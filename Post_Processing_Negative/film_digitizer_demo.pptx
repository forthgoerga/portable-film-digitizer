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32004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33104" y="32004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28016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33104" y="128016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224028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33104" y="224028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320040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33104" y="320040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416052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33104" y="4160520"/>
            <a:ext cx="219456" cy="640080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Film Digitization System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Pipeline:  Scan  ·  Stitch  ·  Post-Process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200400" y="2971800"/>
            <a:ext cx="2743200" cy="0"/>
          </a:xfrm>
          <a:prstGeom prst="line">
            <a:avLst/>
          </a:prstGeom>
          <a:noFill/>
          <a:ln w="12700">
            <a:solidFill>
              <a:srgbClr val="5A6A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445   ·   Raspberry Pi HQ Camera (IMX477)   ·   STM32 MCU   ·   Gemini 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920240" cy="3246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920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0116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HQ Camera captures overlapping tiles; STM32 steps motorized film gate on each exposure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7712" y="2583180"/>
            <a:ext cx="13716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2423160" y="960120"/>
            <a:ext cx="1920240" cy="3246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960120"/>
            <a:ext cx="19202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097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316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32888" y="20116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Feather-blend 40 tiles into a seamless full-frame mosaic using manifest-driven weight maps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583180"/>
            <a:ext cx="13716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4526280" y="960120"/>
            <a:ext cx="1920240" cy="3246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960120"/>
            <a:ext cx="192024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097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2628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36008" y="20116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Density-domain negative inversion + perceptual tone mapping + Gemini-driven iterative refinement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73952" y="2583180"/>
            <a:ext cx="13716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6629400" y="960120"/>
            <a:ext cx="1920240" cy="3246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960120"/>
            <a:ext cx="1920240" cy="64008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097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6F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62940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39128" y="20116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Social-media-ready JPEG + metadata JSON report; cloud upload via AWS S3 + Lambda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4988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STM32 MCU controls dual LED arrays (backlight / frontlight) and motorized film gate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 —  SCANNING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Tile Capture &amp; Coordination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" y="1353312"/>
            <a:ext cx="0" cy="402336"/>
          </a:xfrm>
          <a:prstGeom prst="line">
            <a:avLst/>
          </a:prstGeom>
          <a:noFill/>
          <a:ln w="12700">
            <a:solidFill>
              <a:srgbClr val="5A6A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8755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POST /scan → FastAPI server.py triggers job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" y="2103120"/>
            <a:ext cx="0" cy="402336"/>
          </a:xfrm>
          <a:prstGeom prst="line">
            <a:avLst/>
          </a:prstGeom>
          <a:noFill/>
          <a:ln w="12700">
            <a:solidFill>
              <a:srgbClr val="5A6A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37360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ScanJobCoordinator starts background thread; state machine: Ready → Working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02996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coordinator.py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50545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" y="2852928"/>
            <a:ext cx="0" cy="402336"/>
          </a:xfrm>
          <a:prstGeom prst="line">
            <a:avLst/>
          </a:prstGeom>
          <a:noFill/>
          <a:ln w="12700">
            <a:solidFill>
              <a:srgbClr val="5A6A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487168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steps film gate; RPi HQ Camera captures each tile (IMX477, 12 MP)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277977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serial_comm.py  ·  MockSerialInterface fallback for dev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255264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" y="3602736"/>
            <a:ext cx="0" cy="402336"/>
          </a:xfrm>
          <a:prstGeom prst="line">
            <a:avLst/>
          </a:prstGeom>
          <a:noFill/>
          <a:ln w="12700">
            <a:solidFill>
              <a:srgbClr val="5A6A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36976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tile saved with row/col position metadata to manifest.csv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52958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tiles/  +  manifest.csv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40050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986784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polls GET /status at 500 ms; receives state + output URLs on done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27939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software/web/app.js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06440" y="667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40-tile capture grid (5 × 8)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06440" y="96012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4768" y="96012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83096" y="96012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21424" y="96012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9752" y="96012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120700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44768" y="120700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83096" y="120700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21424" y="120700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59752" y="120700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06440" y="145389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44768" y="145389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83096" y="1453896"/>
            <a:ext cx="402336" cy="301752"/>
          </a:xfrm>
          <a:prstGeom prst="rect">
            <a:avLst/>
          </a:prstGeom>
          <a:solidFill>
            <a:srgbClr val="00B4D8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21424" y="145389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9752" y="145389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06440" y="1700784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44768" y="1700784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83096" y="1700784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21424" y="1700784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9752" y="1700784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1947672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44768" y="1947672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83096" y="1947672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21424" y="1947672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59752" y="1947672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6440" y="219456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4768" y="219456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83096" y="219456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21424" y="219456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59752" y="2194560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06440" y="244144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44768" y="244144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83096" y="244144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21424" y="244144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59752" y="2441448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06440" y="268833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44768" y="268833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83096" y="268833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21424" y="268833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59752" y="2688336"/>
            <a:ext cx="402336" cy="301752"/>
          </a:xfrm>
          <a:prstGeom prst="rect">
            <a:avLst/>
          </a:prstGeom>
          <a:solidFill>
            <a:srgbClr val="2D3550"/>
          </a:solidFill>
          <a:ln w="6350">
            <a:solidFill>
              <a:srgbClr val="5A6A8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30083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overlap region (feather zone)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 —  STITCHING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Feather-Blended Tile Assembly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4114800" cy="1261872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54864" cy="1261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Pixel Accumulation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1673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zone: linear weight ramp  ε → 1.0 → 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 zone: weight = 1.0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Σ(pixel × weight) / Σ(weight)  →  seamless seams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4114800" cy="1078992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33172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manifest.csv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70662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row, col, filename, left, top, right, bottom, overlap_x_px, overlap_y_px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 positions define exact pixel placement on the full-frame canvas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38728"/>
            <a:ext cx="4114800" cy="138988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538728"/>
            <a:ext cx="54864" cy="13898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Post-Stitch Enhancement Stages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 (255 − pixel)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Balance  (per-channel percentile gain)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Auto-Levels  →  CLAHE (LAB L-channel)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Cast-suppression mask  →  Selective Desaturation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  (σ=1.2, amount=0.35)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932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profile across tile boundary: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225296"/>
            <a:ext cx="1143000" cy="1143000"/>
          </a:xfrm>
          <a:prstGeom prst="rect">
            <a:avLst/>
          </a:prstGeom>
          <a:solidFill>
            <a:srgbClr val="2D3550"/>
          </a:solidFill>
          <a:ln w="12700">
            <a:solidFill>
              <a:srgbClr val="5A6A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280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1225296"/>
            <a:ext cx="1143000" cy="1143000"/>
          </a:xfrm>
          <a:prstGeom prst="rect">
            <a:avLst/>
          </a:prstGeom>
          <a:solidFill>
            <a:srgbClr val="2D3550"/>
          </a:solidFill>
          <a:ln w="12700">
            <a:solidFill>
              <a:srgbClr val="5A6A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280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1225296"/>
            <a:ext cx="274320" cy="1143000"/>
          </a:xfrm>
          <a:prstGeom prst="rect">
            <a:avLst/>
          </a:prstGeom>
          <a:solidFill>
            <a:srgbClr val="F4A261">
              <a:alpha val="42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17190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29400" y="1225296"/>
            <a:ext cx="1143000" cy="1143000"/>
          </a:xfrm>
          <a:prstGeom prst="rect">
            <a:avLst/>
          </a:prstGeom>
          <a:solidFill>
            <a:srgbClr val="2D3550"/>
          </a:solidFill>
          <a:ln w="12700">
            <a:solidFill>
              <a:srgbClr val="5A6A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1280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1225296"/>
            <a:ext cx="274320" cy="1143000"/>
          </a:xfrm>
          <a:prstGeom prst="rect">
            <a:avLst/>
          </a:prstGeom>
          <a:solidFill>
            <a:srgbClr val="F4A261">
              <a:alpha val="42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17190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92040" y="2505456"/>
            <a:ext cx="822960" cy="384048"/>
          </a:xfrm>
          <a:prstGeom prst="rect">
            <a:avLst/>
          </a:prstGeom>
          <a:solidFill>
            <a:srgbClr val="00B4D8">
              <a:alpha val="6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2587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1.0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15000" y="2505456"/>
            <a:ext cx="502920" cy="384048"/>
          </a:xfrm>
          <a:prstGeom prst="rect">
            <a:avLst/>
          </a:prstGeom>
          <a:solidFill>
            <a:srgbClr val="F4A261">
              <a:alpha val="65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33288" y="258775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05456"/>
            <a:ext cx="822960" cy="384048"/>
          </a:xfrm>
          <a:prstGeom prst="rect">
            <a:avLst/>
          </a:prstGeom>
          <a:solidFill>
            <a:srgbClr val="00B4D8">
              <a:alpha val="6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587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1.0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040880" y="2505456"/>
            <a:ext cx="502920" cy="384048"/>
          </a:xfrm>
          <a:prstGeom prst="rect">
            <a:avLst/>
          </a:prstGeom>
          <a:solidFill>
            <a:srgbClr val="F4A261">
              <a:alpha val="65000"/>
            </a:srgbClr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58775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43800" y="2505456"/>
            <a:ext cx="822960" cy="384048"/>
          </a:xfrm>
          <a:prstGeom prst="rect">
            <a:avLst/>
          </a:prstGeom>
          <a:solidFill>
            <a:srgbClr val="00B4D8">
              <a:alpha val="65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62088" y="2587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1.0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9204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Tile A  ·  Overlap  ·  Tile B  ·  Overlap  ·  Tile C →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92040" y="3172968"/>
            <a:ext cx="3931920" cy="182880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172968"/>
            <a:ext cx="54864" cy="1828800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Files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3566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stitched_raw.png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inverted_positive.png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white_balanced.png  ·  leveled.png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desaturation_mask.png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processed_negative.png  ← final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Negatives Are the Hardest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56616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Orange Mask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base has a deep orange coupler dye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brand, age, and chemistry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estimated from clear-base ROI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removal destroys color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743200" cy="356616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Inverted Tones &amp; Dye Crosstalk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83280" y="2029968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Cyan/Magenta/Yellow dyes record complements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255−x inversion creates severe casts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 channels bleed into each other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invert in optical-density 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743200" cy="356616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371600"/>
            <a:ext cx="2743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Non-linear Tone &amp; Gamma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2029968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gamma ≠ digital display gamma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Shadow/highlight zones behave non-linearly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tone mapping required (LAB)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Auto-levels alone → flat, desaturated result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 —  NEGATIVE INVERSION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Density-Domain Inversion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435608" cy="2103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43560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1252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÷ base_rgb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transmission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(ε, 1]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2011680"/>
            <a:ext cx="13716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1892808" y="960120"/>
            <a:ext cx="1435608" cy="2103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92808" y="960120"/>
            <a:ext cx="14356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92808" y="10515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92808" y="146304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84248" y="1984248"/>
            <a:ext cx="1252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=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−log(transmission)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channel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55848" y="2011680"/>
            <a:ext cx="13716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3511296" y="960120"/>
            <a:ext cx="1435608" cy="2103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11296" y="960120"/>
            <a:ext cx="1435608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10515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11296" y="146304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Unmixing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02736" y="1984248"/>
            <a:ext cx="1252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CMY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 channels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74336" y="2011680"/>
            <a:ext cx="13716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5129784" y="960120"/>
            <a:ext cx="1435608" cy="2103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9784" y="960120"/>
            <a:ext cx="1435608" cy="54864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9784" y="10515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6F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29784" y="146304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Expm1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21224" y="1984248"/>
            <a:ext cx="1252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(eˣ − 1) ×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[1.35, 1.20, 1.10]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92824" y="2011680"/>
            <a:ext cx="13716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29" name="Shape 27"/>
          <p:cNvSpPr/>
          <p:nvPr/>
        </p:nvSpPr>
        <p:spPr>
          <a:xfrm>
            <a:off x="6748272" y="960120"/>
            <a:ext cx="1435608" cy="210312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48272" y="960120"/>
            <a:ext cx="1435608" cy="54864"/>
          </a:xfrm>
          <a:prstGeom prst="rect">
            <a:avLst/>
          </a:prstGeom>
          <a:solidFill>
            <a:srgbClr val="E87D73"/>
          </a:solidFill>
          <a:ln w="12700">
            <a:solidFill>
              <a:srgbClr val="E87D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105156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D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48272" y="1463040"/>
            <a:ext cx="1435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9712" y="1984248"/>
            <a:ext cx="1252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anchor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3×3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damp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3218688"/>
            <a:ext cx="3977640" cy="173736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218688"/>
            <a:ext cx="54864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2918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 Optical Density Space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3621024"/>
            <a:ext cx="3611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= −log(light transmission through film)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 concentrations add linearly in OD (Beer-Lambert)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color relationships across exposures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RGB inversion breaks this — OD space fixes it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17720" y="3218688"/>
            <a:ext cx="4114800" cy="173736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3218688"/>
            <a:ext cx="54864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Conservative Dye Unmixing Matrix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3621024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[ 1.55  −0.38  −0.17 ]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−0.22   1.44  −0.22 ]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−0.08  −0.45   1.53 ]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Blended with identity matrix by strength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 —  PHYSICAL RAW PIPELINE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RAW-First 10-Stage Correction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749808"/>
          </a:xfrm>
          <a:prstGeom prst="rect">
            <a:avLst/>
          </a:prstGeom>
          <a:solidFill>
            <a:srgbClr val="5A6A85"/>
          </a:solidFill>
          <a:ln w="12700">
            <a:solidFill>
              <a:srgbClr val="5A6A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969264"/>
            <a:ext cx="512064" cy="256032"/>
          </a:xfrm>
          <a:prstGeom prst="rect">
            <a:avLst/>
          </a:prstGeom>
          <a:solidFill>
            <a:srgbClr val="5A6A85"/>
          </a:solidFill>
          <a:ln w="12700">
            <a:solidFill>
              <a:srgbClr val="5A6A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6926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" y="9784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Bayer Ingest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2618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rawpy loads .dng; extracts Bayer mosaic + black/white level metadata → float32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19072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1773936"/>
            <a:ext cx="5120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77393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24128" y="178308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Flat-Field Correction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0665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Gaussian models backlight illumination map per CFA plane; corrected = frame ÷ illum^strength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23744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23744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578608"/>
            <a:ext cx="5120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57860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24128" y="258775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Demosaic → RGB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87121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Bayer interpolation → linear float32 RGB; diagnostic preview saved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28416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28416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3383280"/>
            <a:ext cx="512064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3832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24128" y="339242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Reference Extraction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67588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RGB of clear-base ROI (p10–p90 luma) from reference_layout.json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33088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33088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" y="4187952"/>
            <a:ext cx="512064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18795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24128" y="419709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Correction + Density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4128" y="44805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÷ base_rgb → transmission; −log(T) → optical density; percentile normalize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914400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914400"/>
            <a:ext cx="54864" cy="7498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969264"/>
            <a:ext cx="512064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96926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21808" y="9784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Dye Unmixing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21808" y="12618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matrix in density domain blended with identity; separates CMY channels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1719072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1719072"/>
            <a:ext cx="54864" cy="7498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18304" y="1773936"/>
            <a:ext cx="512064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177393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21808" y="178308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Expm1 Inversion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21808" y="20665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(eˣ − 1) × per-channel gains [1.35, 1.20, 1.10] → positive image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523744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2523744"/>
            <a:ext cx="54864" cy="749808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18304" y="2578608"/>
            <a:ext cx="512064" cy="256032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257860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21808" y="258775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Reference Mapping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21808" y="287121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anchor (0.35) → empirical 3×3 → neutral damp → red guard; 3 presets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3328416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328416"/>
            <a:ext cx="54864" cy="749808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18304" y="3383280"/>
            <a:ext cx="512064" cy="256032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3832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S8+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21808" y="339242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Perceptual Tone + Color Ref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21808" y="367588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zoned tone curve; pseudo-LUT hue/chroma adjust; neutral-region protection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4133088"/>
            <a:ext cx="4206240" cy="74980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4133088"/>
            <a:ext cx="54864" cy="749808"/>
          </a:xfrm>
          <a:prstGeom prst="rect">
            <a:avLst/>
          </a:prstGeom>
          <a:solidFill>
            <a:srgbClr val="E87D73"/>
          </a:solidFill>
          <a:ln w="12700">
            <a:solidFill>
              <a:srgbClr val="E87D7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18304" y="4187952"/>
            <a:ext cx="512064" cy="256032"/>
          </a:xfrm>
          <a:prstGeom prst="rect">
            <a:avLst/>
          </a:prstGeom>
          <a:solidFill>
            <a:srgbClr val="E87D73"/>
          </a:solidFill>
          <a:ln w="12700">
            <a:solidFill>
              <a:srgbClr val="E87D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18304" y="418795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21808" y="419709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Finish &amp; Export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321808" y="44805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sRGB OETF; exposure/contrast/temp/tint; grain + bloom + sharpening → PNG + JSON report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 —  AGENTIC AI REFINEMENT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Gemini-Powered Iterative Refinement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12724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064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49047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Type 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56232"/>
            <a:ext cx="2478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VLM → JSON: film_type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negative_35mm, negative_120, positive_35mm, positive_120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aspect ratio + luma/saturation heuristics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54096" y="2523744"/>
            <a:ext cx="100584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3200400" y="960120"/>
            <a:ext cx="2697480" cy="312724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6974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064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PostProcessingAgent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49047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13-Stage Negative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856232"/>
            <a:ext cx="2478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film type to correct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density inversion → gray-world WB → LAB neutralization → CLAHE → vibrance → unsharp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lighter 7-stage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34456" y="2523744"/>
            <a:ext cx="100584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6080760" y="960120"/>
            <a:ext cx="2697480" cy="3127248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60120"/>
            <a:ext cx="269748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1064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EvaluatorAgent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49047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 &amp; Param Tuning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0488" y="1856232"/>
            <a:ext cx="2478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metrics: gray_mean, clipping ratios, channel_spread, saturation, laplacian_variance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scores image 0–1 + autonomously tunes 14 parameters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score ≥ 0.75 or max iterations reached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224528"/>
            <a:ext cx="8321040" cy="713232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224528"/>
            <a:ext cx="54864" cy="713232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F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Loop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572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&lt; 0.75  →  EvaluatorAgent suggests new params  →  PostProcessingAgent re-runs  →  EvaluatorAgent re-scores  →  repeat (max_iter)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4297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&lt;stem&gt;_processed.png  +  &lt;stem&gt;_meta.json  (score, metrics, params, iteration log)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Evaluator Quality Metrics  &amp;  14 Tunable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4864" cy="9692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3327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gray_mean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" y="134416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100 – 165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" y="1591056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exposure level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960120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91256" y="960120"/>
            <a:ext cx="54864" cy="9692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3327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gray_std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34416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&gt; 30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591056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 contrast present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71032" y="960120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71032" y="960120"/>
            <a:ext cx="54864" cy="9692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03327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clipped_black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17336" y="134416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&lt; 0.5 %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17336" y="1591056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crushed shadows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048256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048256"/>
            <a:ext cx="54864" cy="9692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21214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clipped_white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" y="243230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&lt; 0.5 %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784" y="2679192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blown highlights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91256" y="2048256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91256" y="2048256"/>
            <a:ext cx="54864" cy="9692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1214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blue_red_delta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43230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≈ 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2679192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balance neutral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71032" y="2048256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71032" y="2048256"/>
            <a:ext cx="54864" cy="9692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21214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channel_spread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17336" y="243230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&lt; 0.10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17336" y="2679192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color cast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136392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136392"/>
            <a:ext cx="54864" cy="969264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3209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F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mean_saturation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" y="352044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0.08 – 0.45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7784" y="3767328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color richness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91256" y="3136392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91256" y="3136392"/>
            <a:ext cx="54864" cy="969264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209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F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laplacian_var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37560" y="352044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&gt; 150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337560" y="3767328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sharpness proxy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71032" y="3136392"/>
            <a:ext cx="2624328" cy="969264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71032" y="3136392"/>
            <a:ext cx="54864" cy="969264"/>
          </a:xfrm>
          <a:prstGeom prst="rect">
            <a:avLst/>
          </a:prstGeom>
          <a:solidFill>
            <a:srgbClr val="E87D73"/>
          </a:solidFill>
          <a:ln w="12700">
            <a:solidFill>
              <a:srgbClr val="E87D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17336" y="3209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D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quality_score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17336" y="352044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≥ 0.75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17336" y="3767328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VLM composite grade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224528"/>
            <a:ext cx="8321040" cy="68580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1480" y="4224528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Autonomously Tuned Parameters: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" y="4572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wb_clip_percent  ·  black_point  ·  white_point  ·  clahe_clip  ·  clahe_grid  ·  unsharp_amount  ·  unsharp_sigma  ·  desat_strength  ·  shadow_lift  ·  gamma  ·  lab_strength  ·  highlight_compression  ·  vibrance  ·  desat_sigma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Film to Feed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965960" cy="214884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184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feather-blended into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mosaic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508760"/>
            <a:ext cx="1965960" cy="214884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508760"/>
            <a:ext cx="19659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184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246888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physically-grounded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508760"/>
            <a:ext cx="1965960" cy="214884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508760"/>
            <a:ext cx="196596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6184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61772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autonomously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Gemini VLM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508760"/>
            <a:ext cx="1965960" cy="2148840"/>
          </a:xfrm>
          <a:prstGeom prst="rect">
            <a:avLst/>
          </a:prstGeom>
          <a:solidFill>
            <a:srgbClr val="242B3D"/>
          </a:solidFill>
          <a:ln w="12700">
            <a:solidFill>
              <a:srgbClr val="242B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508760"/>
            <a:ext cx="1965960" cy="64008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61848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6F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766560" y="2313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6517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exposure, color,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sharpness, clipping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840480"/>
            <a:ext cx="8321040" cy="0"/>
          </a:xfrm>
          <a:prstGeom prst="line">
            <a:avLst/>
          </a:prstGeom>
          <a:noFill/>
          <a:ln w="6350">
            <a:solidFill>
              <a:srgbClr val="5A6A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502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 </a:t>
            </a:r>
            <a:pPr algn="ctr" indent="0" marL="0">
              <a:buNone/>
            </a:pPr>
            <a:r>
              <a:rPr lang="en-US" sz="11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tile capture via RPi + STM32        </a:t>
            </a:r>
            <a:pPr algn="ctr"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 </a:t>
            </a:r>
            <a:pPr algn="ctr" indent="0" marL="0">
              <a:buNone/>
            </a:pPr>
            <a:r>
              <a:rPr lang="en-US" sz="11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feather-blend 40 tiles        </a:t>
            </a:r>
            <a:pPr algn="ctr"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 </a:t>
            </a:r>
            <a:pPr algn="ctr" indent="0" marL="0">
              <a:buNone/>
            </a:pPr>
            <a:r>
              <a:rPr lang="en-US" sz="11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density inversion + AI refinement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445  ·  Film Digitization System  ·  Post-Processing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Film Digitization System — ECE 445 Demo</dc:title>
  <dc:subject>PptxGenJS Presentation</dc:subject>
  <dc:creator>ECE 445</dc:creator>
  <cp:lastModifiedBy>ECE 445</cp:lastModifiedBy>
  <cp:revision>1</cp:revision>
  <dcterms:created xsi:type="dcterms:W3CDTF">2026-04-22T04:38:08Z</dcterms:created>
  <dcterms:modified xsi:type="dcterms:W3CDTF">2026-04-22T04:38:08Z</dcterms:modified>
</cp:coreProperties>
</file>